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320" r:id="rId3"/>
    <p:sldId id="322" r:id="rId4"/>
    <p:sldId id="290" r:id="rId5"/>
    <p:sldId id="323" r:id="rId6"/>
    <p:sldId id="324" r:id="rId7"/>
    <p:sldId id="325" r:id="rId8"/>
    <p:sldId id="293" r:id="rId9"/>
    <p:sldId id="314" r:id="rId10"/>
    <p:sldId id="304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首頁" id="{ABDD2225-0BC4-4711-A8ED-E264AC75802E}">
          <p14:sldIdLst>
            <p14:sldId id="256"/>
          </p14:sldIdLst>
        </p14:section>
        <p14:section name="專案管理" id="{94D6E4DB-68EC-4B89-B7E1-8B9E3490CAC2}">
          <p14:sldIdLst>
            <p14:sldId id="320"/>
          </p14:sldIdLst>
        </p14:section>
        <p14:section name="系統分析" id="{75E7B61E-6F28-4E5D-B907-04C2046FEFB2}">
          <p14:sldIdLst>
            <p14:sldId id="322"/>
            <p14:sldId id="290"/>
            <p14:sldId id="323"/>
            <p14:sldId id="324"/>
            <p14:sldId id="325"/>
          </p14:sldIdLst>
        </p14:section>
        <p14:section name="DQN" id="{51167E25-41F1-42F7-B242-4EB1F9DFD588}">
          <p14:sldIdLst>
            <p14:sldId id="293"/>
            <p14:sldId id="314"/>
            <p14:sldId id="30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36" autoAdjust="0"/>
    <p:restoredTop sz="89318" autoAdjust="0"/>
  </p:normalViewPr>
  <p:slideViewPr>
    <p:cSldViewPr snapToGrid="0">
      <p:cViewPr varScale="1">
        <p:scale>
          <a:sx n="99" d="100"/>
          <a:sy n="99" d="100"/>
        </p:scale>
        <p:origin x="10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78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29F8E0-05F2-4742-BB97-D2E4F51035C8}" type="datetimeFigureOut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EDBFE4-86DF-49E3-AB07-98BBBFC455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92504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B905C5-9D54-40E2-B40C-7996280CAB02}" type="datetimeFigureOut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8A6B0B-A5FB-4629-B823-69B1A9EB3A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9117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具有</a:t>
            </a:r>
            <a:r>
              <a:rPr lang="en-US" altLang="zh-TW" dirty="0" err="1"/>
              <a:t>file_id</a:t>
            </a:r>
            <a:r>
              <a:rPr lang="zh-TW" altLang="en-US" dirty="0"/>
              <a:t>，可以查詢過去的錯誤原因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8A6B0B-A5FB-4629-B823-69B1A9EB3A43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8072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838200" y="4295163"/>
            <a:ext cx="10515600" cy="1887523"/>
          </a:xfrm>
        </p:spPr>
        <p:txBody>
          <a:bodyPr anchor="b">
            <a:normAutofit/>
          </a:bodyPr>
          <a:lstStyle>
            <a:lvl1pPr marL="0" indent="0" algn="l">
              <a:spcBef>
                <a:spcPts val="1000"/>
              </a:spcBef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按一下以編輯母片副標題樣式</a:t>
            </a:r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838200" y="1389529"/>
            <a:ext cx="10515600" cy="2905634"/>
          </a:xfrm>
        </p:spPr>
        <p:txBody>
          <a:bodyPr anchor="t"/>
          <a:lstStyle>
            <a:lvl1pPr algn="ctr">
              <a:defRPr sz="60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9516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204074"/>
            <a:ext cx="10515600" cy="4434726"/>
          </a:xfrm>
        </p:spPr>
        <p:txBody>
          <a:bodyPr>
            <a:normAutofit/>
          </a:bodyPr>
          <a:lstStyle>
            <a:lvl1pPr hangingPunct="0">
              <a:lnSpc>
                <a:spcPct val="100000"/>
              </a:lnSpc>
              <a:defRPr sz="1600"/>
            </a:lvl1pPr>
            <a:lvl2pPr hangingPunct="0">
              <a:defRPr sz="1600"/>
            </a:lvl2pPr>
            <a:lvl3pPr hangingPunct="0">
              <a:defRPr sz="1600"/>
            </a:lvl3pPr>
            <a:lvl4pPr hangingPunct="0">
              <a:defRPr sz="1600"/>
            </a:lvl4pPr>
            <a:lvl5pPr hangingPunct="0">
              <a:defRPr sz="1600"/>
            </a:lvl5pPr>
          </a:lstStyle>
          <a:p>
            <a:pPr lvl="0"/>
            <a:r>
              <a:rPr lang="zh-TW" altLang="en-US" dirty="0"/>
              <a:t>編輯母片文字樣式</a:t>
            </a:r>
          </a:p>
        </p:txBody>
      </p:sp>
      <p:sp>
        <p:nvSpPr>
          <p:cNvPr id="7" name="內容版面配置區 2"/>
          <p:cNvSpPr>
            <a:spLocks noGrp="1"/>
          </p:cNvSpPr>
          <p:nvPr>
            <p:ph idx="13"/>
          </p:nvPr>
        </p:nvSpPr>
        <p:spPr>
          <a:xfrm>
            <a:off x="838200" y="5638800"/>
            <a:ext cx="10515600" cy="600825"/>
          </a:xfrm>
        </p:spPr>
        <p:txBody>
          <a:bodyPr>
            <a:normAutofit/>
          </a:bodyPr>
          <a:lstStyle>
            <a:lvl1pPr hangingPunct="0">
              <a:lnSpc>
                <a:spcPct val="100000"/>
              </a:lnSpc>
              <a:spcBef>
                <a:spcPts val="0"/>
              </a:spcBef>
              <a:defRPr sz="1600"/>
            </a:lvl1pPr>
            <a:lvl2pPr hangingPunct="0">
              <a:defRPr sz="1600"/>
            </a:lvl2pPr>
            <a:lvl3pPr hangingPunct="0">
              <a:defRPr sz="1600"/>
            </a:lvl3pPr>
            <a:lvl4pPr hangingPunct="0">
              <a:defRPr sz="1600"/>
            </a:lvl4pPr>
            <a:lvl5pPr hangingPunct="0">
              <a:defRPr sz="1600"/>
            </a:lvl5pPr>
          </a:lstStyle>
          <a:p>
            <a:pPr lvl="0"/>
            <a:r>
              <a:rPr lang="zh-TW" altLang="en-US" dirty="0"/>
              <a:t>編輯母片文字樣式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8426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2606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1493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3767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6634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1833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2368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1845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8943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CC965-A63A-473D-BEFB-C8F9714D5269}" type="datetimeFigureOut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6410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38200" y="6274588"/>
            <a:ext cx="10515600" cy="57150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838200" y="1119519"/>
            <a:ext cx="10515600" cy="57150"/>
          </a:xfrm>
          <a:prstGeom prst="rect">
            <a:avLst/>
          </a:prstGeom>
        </p:spPr>
      </p:pic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202572"/>
            <a:ext cx="10515600" cy="5037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0C0CC965-A63A-473D-BEFB-C8F9714D5269}" type="datetimeFigureOut">
              <a:rPr lang="zh-TW" altLang="en-US" smtClean="0"/>
              <a:pPr/>
              <a:t>2025/11/26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90F9E983-480B-48C5-9E0F-D21C0DFBB5C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8425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</p:titleStyle>
    <p:bodyStyle>
      <a:lvl1pPr marL="144000" indent="-1440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685800" indent="-2286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2pPr>
      <a:lvl3pPr marL="1143000" indent="-2286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3pPr>
      <a:lvl4pPr marL="1600200" indent="-2286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4pPr>
      <a:lvl5pPr marL="2057400" indent="-2286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407ADF-C590-55F6-B1E9-77358FA091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zh-TW" altLang="en-US" sz="4400" dirty="0">
                <a:cs typeface="Times New Roman" panose="02020603050405020304" pitchFamily="18" charset="0"/>
              </a:rPr>
              <a:t>基於</a:t>
            </a:r>
            <a:r>
              <a:rPr lang="en-US" altLang="zh-TW" sz="4400" dirty="0">
                <a:cs typeface="Times New Roman" panose="02020603050405020304" pitchFamily="18" charset="0"/>
              </a:rPr>
              <a:t>DQN</a:t>
            </a:r>
            <a:r>
              <a:rPr lang="zh-TW" altLang="en-US" sz="4400" dirty="0">
                <a:cs typeface="Times New Roman" panose="02020603050405020304" pitchFamily="18" charset="0"/>
              </a:rPr>
              <a:t>訓練遊玩</a:t>
            </a:r>
            <a:r>
              <a:rPr lang="en-US" altLang="zh-TW" sz="4400" dirty="0">
                <a:cs typeface="Times New Roman" panose="02020603050405020304" pitchFamily="18" charset="0"/>
              </a:rPr>
              <a:t>Pac-man</a:t>
            </a:r>
            <a:r>
              <a:rPr lang="zh-TW" altLang="en-US" sz="4400" dirty="0">
                <a:cs typeface="Times New Roman" panose="02020603050405020304" pitchFamily="18" charset="0"/>
              </a:rPr>
              <a:t>之模型說明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16E8476-59A0-D95E-8ADB-322FEECB28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t"/>
          <a:lstStyle/>
          <a:p>
            <a:pPr algn="ctr"/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組員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TW" dirty="0">
                <a:cs typeface="Times New Roman" panose="02020603050405020304" pitchFamily="18" charset="0"/>
              </a:rPr>
              <a:t>F114112140</a:t>
            </a:r>
            <a:r>
              <a:rPr lang="zh-TW" altLang="en-US" dirty="0">
                <a:cs typeface="Times New Roman" panose="02020603050405020304" pitchFamily="18" charset="0"/>
              </a:rPr>
              <a:t> 王柏諺</a:t>
            </a:r>
            <a:r>
              <a:rPr lang="en-US" altLang="zh-TW" dirty="0">
                <a:cs typeface="Times New Roman" panose="02020603050405020304" pitchFamily="18" charset="0"/>
              </a:rPr>
              <a:t>(</a:t>
            </a:r>
            <a:r>
              <a:rPr lang="zh-TW" altLang="en-US" dirty="0">
                <a:cs typeface="Times New Roman" panose="02020603050405020304" pitchFamily="18" charset="0"/>
              </a:rPr>
              <a:t>組長</a:t>
            </a:r>
            <a:r>
              <a:rPr lang="en-US" altLang="zh-TW" dirty="0">
                <a:cs typeface="Times New Roman" panose="02020603050405020304" pitchFamily="18" charset="0"/>
              </a:rPr>
              <a:t>)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TW" dirty="0">
                <a:cs typeface="Times New Roman" panose="02020603050405020304" pitchFamily="18" charset="0"/>
              </a:rPr>
              <a:t>F114111115</a:t>
            </a:r>
            <a:r>
              <a:rPr lang="zh-TW" altLang="en-US" dirty="0">
                <a:cs typeface="Times New Roman" panose="02020603050405020304" pitchFamily="18" charset="0"/>
              </a:rPr>
              <a:t> 余宇承</a:t>
            </a:r>
            <a:endParaRPr lang="en-US" altLang="zh-TW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6397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EBFA81F3-C1AC-3B73-05BB-B9B4CDF74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0" i="0" dirty="0">
                <a:effectLst/>
                <a:latin typeface="Segoe UI Historic" panose="020B0502040204020203" pitchFamily="34" charset="0"/>
              </a:rPr>
              <a:t>功能：使用</a:t>
            </a:r>
            <a:r>
              <a:rPr lang="en-US" altLang="zh-TW" b="0" i="0" dirty="0" err="1">
                <a:effectLst/>
                <a:latin typeface="Segoe UI Historic" panose="020B0502040204020203" pitchFamily="34" charset="0"/>
              </a:rPr>
              <a:t>pygame</a:t>
            </a:r>
            <a:r>
              <a:rPr lang="zh-TW" altLang="en-US" b="0" i="0" dirty="0">
                <a:effectLst/>
                <a:latin typeface="Segoe UI Historic" panose="020B0502040204020203" pitchFamily="34" charset="0"/>
              </a:rPr>
              <a:t>建立</a:t>
            </a:r>
            <a:r>
              <a:rPr lang="en-US" altLang="zh-TW" b="0" i="0" dirty="0" err="1">
                <a:effectLst/>
                <a:latin typeface="Segoe UI Historic" panose="020B0502040204020203" pitchFamily="34" charset="0"/>
              </a:rPr>
              <a:t>pacman</a:t>
            </a:r>
            <a:r>
              <a:rPr lang="zh-TW" altLang="en-US" b="0" i="0" dirty="0">
                <a:effectLst/>
                <a:latin typeface="Segoe UI Historic" panose="020B0502040204020203" pitchFamily="34" charset="0"/>
              </a:rPr>
              <a:t>遊戲包含</a:t>
            </a:r>
            <a:r>
              <a:rPr lang="en-US" altLang="zh-TW" b="0" i="0" dirty="0">
                <a:effectLst/>
                <a:latin typeface="Segoe UI Historic" panose="020B0502040204020203" pitchFamily="34" charset="0"/>
              </a:rPr>
              <a:t>:</a:t>
            </a:r>
            <a:r>
              <a:rPr lang="en-US" altLang="zh-TW" b="0" i="0" dirty="0" err="1">
                <a:effectLst/>
                <a:latin typeface="Segoe UI Historic" panose="020B0502040204020203" pitchFamily="34" charset="0"/>
              </a:rPr>
              <a:t>pacman</a:t>
            </a:r>
            <a:r>
              <a:rPr lang="zh-TW" altLang="en-US" b="0" i="0" dirty="0">
                <a:effectLst/>
                <a:latin typeface="Segoe UI Historic" panose="020B0502040204020203" pitchFamily="34" charset="0"/>
              </a:rPr>
              <a:t>移動、鬼、牆壁地圖、點數、遊戲結束</a:t>
            </a:r>
            <a:endParaRPr lang="en-US" altLang="zh-TW" dirty="0">
              <a:latin typeface="Segoe UI Historic" panose="020B0502040204020203" pitchFamily="34" charset="0"/>
            </a:endParaRPr>
          </a:p>
          <a:p>
            <a:pPr marL="0" indent="0">
              <a:buNone/>
            </a:pPr>
            <a:r>
              <a:rPr lang="zh-TW" altLang="en-US" dirty="0">
                <a:latin typeface="Segoe UI Historic" panose="020B0502040204020203" pitchFamily="34" charset="0"/>
              </a:rPr>
              <a:t>              </a:t>
            </a:r>
            <a:r>
              <a:rPr lang="en-US" altLang="zh-TW" dirty="0">
                <a:latin typeface="Segoe UI Historic" panose="020B0502040204020203" pitchFamily="34" charset="0"/>
              </a:rPr>
              <a:t>DQN</a:t>
            </a:r>
            <a:r>
              <a:rPr lang="zh-TW" altLang="en-US" dirty="0">
                <a:latin typeface="Segoe UI Historic" panose="020B0502040204020203" pitchFamily="34" charset="0"/>
              </a:rPr>
              <a:t>深度強化學習</a:t>
            </a:r>
            <a:r>
              <a:rPr lang="en-US" altLang="zh-TW" dirty="0">
                <a:latin typeface="Segoe UI Historic" panose="020B0502040204020203" pitchFamily="34" charset="0"/>
              </a:rPr>
              <a:t>Agent</a:t>
            </a:r>
            <a:endParaRPr lang="en-US" altLang="zh-TW" b="0" i="0" dirty="0">
              <a:effectLst/>
              <a:latin typeface="Segoe UI Historic" panose="020B0502040204020203" pitchFamily="34" charset="0"/>
            </a:endParaRPr>
          </a:p>
          <a:p>
            <a:r>
              <a:rPr lang="zh-TW" altLang="en-US" b="0" i="0" dirty="0">
                <a:effectLst/>
                <a:latin typeface="Segoe UI Historic" panose="020B0502040204020203" pitchFamily="34" charset="0"/>
              </a:rPr>
              <a:t>效能：</a:t>
            </a:r>
            <a:r>
              <a:rPr lang="zh-TW" altLang="en-US" dirty="0">
                <a:latin typeface="Segoe UI Historic" panose="020B0502040204020203" pitchFamily="34" charset="0"/>
              </a:rPr>
              <a:t>模型效能</a:t>
            </a:r>
            <a:r>
              <a:rPr lang="en-US" altLang="zh-TW" dirty="0">
                <a:latin typeface="Segoe UI Historic" panose="020B0502040204020203" pitchFamily="34" charset="0"/>
              </a:rPr>
              <a:t>CNN</a:t>
            </a:r>
            <a:r>
              <a:rPr lang="zh-TW" altLang="en-US" dirty="0">
                <a:latin typeface="Segoe UI Historic" panose="020B0502040204020203" pitchFamily="34" charset="0"/>
              </a:rPr>
              <a:t> </a:t>
            </a:r>
            <a:r>
              <a:rPr lang="en-US" altLang="zh-TW" dirty="0">
                <a:latin typeface="Segoe UI Historic" panose="020B0502040204020203" pitchFamily="34" charset="0"/>
              </a:rPr>
              <a:t>DQN</a:t>
            </a:r>
            <a:r>
              <a:rPr lang="zh-TW" altLang="en-US" dirty="0">
                <a:latin typeface="Segoe UI Historic" panose="020B0502040204020203" pitchFamily="34" charset="0"/>
              </a:rPr>
              <a:t>，用</a:t>
            </a:r>
            <a:r>
              <a:rPr lang="en-US" altLang="zh-TW" dirty="0">
                <a:latin typeface="Segoe UI Historic" panose="020B0502040204020203" pitchFamily="34" charset="0"/>
              </a:rPr>
              <a:t>CNN</a:t>
            </a:r>
            <a:r>
              <a:rPr lang="zh-TW" altLang="en-US" dirty="0">
                <a:latin typeface="Segoe UI Historic" panose="020B0502040204020203" pitchFamily="34" charset="0"/>
              </a:rPr>
              <a:t>去處理影像狀態</a:t>
            </a:r>
            <a:r>
              <a:rPr lang="en-US" altLang="zh-TW" dirty="0">
                <a:latin typeface="Segoe UI Historic" panose="020B0502040204020203" pitchFamily="34" charset="0"/>
              </a:rPr>
              <a:t>(</a:t>
            </a:r>
            <a:r>
              <a:rPr lang="zh-TW" altLang="en-US" dirty="0">
                <a:latin typeface="Segoe UI Historic" panose="020B0502040204020203" pitchFamily="34" charset="0"/>
              </a:rPr>
              <a:t>像素畫面</a:t>
            </a:r>
            <a:r>
              <a:rPr lang="en-US" altLang="zh-TW" dirty="0">
                <a:latin typeface="Segoe UI Historic" panose="020B0502040204020203" pitchFamily="34" charset="0"/>
              </a:rPr>
              <a:t>)</a:t>
            </a:r>
            <a:r>
              <a:rPr lang="zh-TW" altLang="en-US" dirty="0">
                <a:latin typeface="Segoe UI Historic" panose="020B0502040204020203" pitchFamily="34" charset="0"/>
              </a:rPr>
              <a:t>，並用</a:t>
            </a:r>
            <a:r>
              <a:rPr lang="en-US" altLang="zh-TW" dirty="0">
                <a:latin typeface="Segoe UI Historic" panose="020B0502040204020203" pitchFamily="34" charset="0"/>
              </a:rPr>
              <a:t>DQN</a:t>
            </a:r>
            <a:r>
              <a:rPr lang="zh-TW" altLang="en-US" dirty="0">
                <a:latin typeface="Segoe UI Historic" panose="020B0502040204020203" pitchFamily="34" charset="0"/>
              </a:rPr>
              <a:t>做強化學習決策</a:t>
            </a:r>
            <a:endParaRPr lang="en-US" altLang="zh-TW" dirty="0">
              <a:latin typeface="Segoe UI Historic" panose="020B0502040204020203" pitchFamily="34" charset="0"/>
            </a:endParaRPr>
          </a:p>
          <a:p>
            <a:pPr marL="457200" lvl="1" indent="0">
              <a:buNone/>
            </a:pPr>
            <a:r>
              <a:rPr lang="zh-TW" altLang="en-US" dirty="0">
                <a:latin typeface="Segoe UI Historic" panose="020B0502040204020203" pitchFamily="34" charset="0"/>
              </a:rPr>
              <a:t>     遊戲環境效能</a:t>
            </a:r>
            <a:r>
              <a:rPr lang="en-US" altLang="zh-TW" dirty="0">
                <a:latin typeface="Segoe UI Historic" panose="020B0502040204020203" pitchFamily="34" charset="0"/>
              </a:rPr>
              <a:t>:</a:t>
            </a:r>
            <a:r>
              <a:rPr lang="en-US" altLang="zh-TW" dirty="0" err="1">
                <a:latin typeface="Segoe UI Historic" panose="020B0502040204020203" pitchFamily="34" charset="0"/>
              </a:rPr>
              <a:t>pacman</a:t>
            </a:r>
            <a:r>
              <a:rPr lang="zh-TW" altLang="en-US" dirty="0">
                <a:latin typeface="Segoe UI Historic" panose="020B0502040204020203" pitchFamily="34" charset="0"/>
              </a:rPr>
              <a:t>環境使用</a:t>
            </a:r>
            <a:r>
              <a:rPr lang="en-US" altLang="zh-TW" dirty="0" err="1">
                <a:latin typeface="Segoe UI Historic" panose="020B0502040204020203" pitchFamily="34" charset="0"/>
              </a:rPr>
              <a:t>pygame</a:t>
            </a:r>
            <a:r>
              <a:rPr lang="zh-TW" altLang="en-US" dirty="0">
                <a:latin typeface="Segoe UI Historic" panose="020B0502040204020203" pitchFamily="34" charset="0"/>
              </a:rPr>
              <a:t>，</a:t>
            </a:r>
            <a:r>
              <a:rPr lang="en-US" altLang="zh-TW" dirty="0">
                <a:latin typeface="Segoe UI Historic" panose="020B0502040204020203" pitchFamily="34" charset="0"/>
              </a:rPr>
              <a:t>FPS</a:t>
            </a:r>
            <a:r>
              <a:rPr lang="zh-TW" altLang="en-US" dirty="0">
                <a:latin typeface="Segoe UI Historic" panose="020B0502040204020203" pitchFamily="34" charset="0"/>
              </a:rPr>
              <a:t>大約在</a:t>
            </a:r>
            <a:r>
              <a:rPr lang="en-US" altLang="zh-TW" dirty="0">
                <a:latin typeface="Segoe UI Historic" panose="020B0502040204020203" pitchFamily="34" charset="0"/>
              </a:rPr>
              <a:t>30~60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zh-TW" altLang="en-US" b="0" i="0" dirty="0">
                <a:effectLst/>
                <a:latin typeface="Segoe UI Historic" panose="020B0502040204020203" pitchFamily="34" charset="0"/>
              </a:rPr>
              <a:t>             訓練效率</a:t>
            </a:r>
            <a:r>
              <a:rPr lang="en-US" altLang="zh-TW" b="0" i="0" dirty="0">
                <a:effectLst/>
                <a:latin typeface="Segoe UI Historic" panose="020B0502040204020203" pitchFamily="34" charset="0"/>
              </a:rPr>
              <a:t>:</a:t>
            </a:r>
            <a:r>
              <a:rPr kumimoji="0" lang="zh-TW" altLang="zh-TW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300~1000 episodes</a:t>
            </a:r>
            <a:r>
              <a:rPr kumimoji="0" lang="en-US" altLang="zh-TW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(</a:t>
            </a:r>
            <a:r>
              <a:rPr kumimoji="0" lang="zh-TW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局數</a:t>
            </a:r>
            <a:r>
              <a:rPr kumimoji="0" lang="en-US" altLang="zh-TW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)</a:t>
            </a:r>
            <a:r>
              <a:rPr lang="zh-TW" altLang="en-US" dirty="0">
                <a:cs typeface="Times New Roman" panose="02020603050405020304" pitchFamily="18" charset="0"/>
              </a:rPr>
              <a:t>，</a:t>
            </a:r>
            <a:r>
              <a:rPr kumimoji="0" lang="zh-TW" altLang="zh-TW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500K~2M steps</a:t>
            </a:r>
            <a:r>
              <a:rPr kumimoji="0" lang="en-US" altLang="zh-TW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(</a:t>
            </a:r>
            <a:r>
              <a:rPr lang="zh-TW" altLang="en-US" dirty="0">
                <a:cs typeface="Times New Roman" panose="02020603050405020304" pitchFamily="18" charset="0"/>
              </a:rPr>
              <a:t>步數</a:t>
            </a:r>
            <a:r>
              <a:rPr kumimoji="0" lang="en-US" altLang="zh-TW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)</a:t>
            </a:r>
            <a:endParaRPr kumimoji="0" lang="zh-TW" altLang="zh-TW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altLang="zh-TW" i="0" dirty="0">
              <a:effectLst/>
              <a:cs typeface="Times New Roman" panose="02020603050405020304" pitchFamily="18" charset="0"/>
            </a:endParaRPr>
          </a:p>
          <a:p>
            <a:r>
              <a:rPr lang="zh-TW" altLang="en-US" b="0" i="0" dirty="0">
                <a:effectLst/>
                <a:latin typeface="Segoe UI Historic" panose="020B0502040204020203" pitchFamily="34" charset="0"/>
              </a:rPr>
              <a:t>介面：</a:t>
            </a:r>
            <a:endParaRPr lang="en-US" altLang="zh-TW" b="0" i="0" dirty="0">
              <a:effectLst/>
              <a:latin typeface="Segoe UI Historic" panose="020B0502040204020203" pitchFamily="34" charset="0"/>
            </a:endParaRPr>
          </a:p>
          <a:p>
            <a:pPr marL="0" indent="0">
              <a:buNone/>
            </a:pPr>
            <a:r>
              <a:rPr lang="en-US" altLang="zh-TW" b="0" i="0" dirty="0">
                <a:effectLst/>
                <a:latin typeface="Segoe UI Historic" panose="020B0502040204020203" pitchFamily="34" charset="0"/>
              </a:rPr>
              <a:t>	</a:t>
            </a:r>
            <a:r>
              <a:rPr lang="zh-TW" altLang="en-US" b="0" i="0" dirty="0">
                <a:effectLst/>
                <a:latin typeface="Segoe UI Historic" panose="020B0502040204020203" pitchFamily="34" charset="0"/>
              </a:rPr>
              <a:t>外部： </a:t>
            </a:r>
            <a:r>
              <a:rPr lang="zh-TW" altLang="en-US" dirty="0">
                <a:latin typeface="Segoe UI Historic" panose="020B0502040204020203" pitchFamily="34" charset="0"/>
              </a:rPr>
              <a:t>遊戲世界，包含整張地圖、牆壁、點點、能量球、四個鬼、</a:t>
            </a:r>
            <a:r>
              <a:rPr lang="en-US" altLang="zh-TW" dirty="0" err="1">
                <a:latin typeface="Segoe UI Historic" panose="020B0502040204020203" pitchFamily="34" charset="0"/>
              </a:rPr>
              <a:t>pacman</a:t>
            </a:r>
            <a:r>
              <a:rPr lang="zh-TW" altLang="en-US" dirty="0">
                <a:latin typeface="Segoe UI Historic" panose="020B0502040204020203" pitchFamily="34" charset="0"/>
              </a:rPr>
              <a:t>位置</a:t>
            </a:r>
            <a:endParaRPr lang="en-US" altLang="zh-TW" b="0" i="0" dirty="0">
              <a:effectLst/>
              <a:latin typeface="Segoe UI Historic" panose="020B0502040204020203" pitchFamily="34" charset="0"/>
            </a:endParaRPr>
          </a:p>
          <a:p>
            <a:pPr marL="0" indent="0">
              <a:buNone/>
            </a:pPr>
            <a:r>
              <a:rPr lang="en-US" altLang="zh-TW" b="0" i="0" dirty="0">
                <a:effectLst/>
                <a:latin typeface="Segoe UI Historic" panose="020B0502040204020203" pitchFamily="34" charset="0"/>
              </a:rPr>
              <a:t>	</a:t>
            </a:r>
            <a:r>
              <a:rPr lang="zh-TW" altLang="en-US" b="0" i="0" dirty="0">
                <a:effectLst/>
                <a:latin typeface="Segoe UI Historic" panose="020B0502040204020203" pitchFamily="34" charset="0"/>
              </a:rPr>
              <a:t>內部：</a:t>
            </a:r>
            <a:r>
              <a:rPr lang="en-US" altLang="zh-TW" dirty="0">
                <a:latin typeface="Segoe UI Historic" panose="020B0502040204020203" pitchFamily="34" charset="0"/>
              </a:rPr>
              <a:t>DQN</a:t>
            </a:r>
            <a:r>
              <a:rPr lang="zh-TW" altLang="en-US" dirty="0">
                <a:latin typeface="Segoe UI Historic" panose="020B0502040204020203" pitchFamily="34" charset="0"/>
              </a:rPr>
              <a:t> </a:t>
            </a:r>
            <a:r>
              <a:rPr lang="en-US" altLang="zh-TW" dirty="0">
                <a:latin typeface="Segoe UI Historic" panose="020B0502040204020203" pitchFamily="34" charset="0"/>
              </a:rPr>
              <a:t>Agent</a:t>
            </a:r>
            <a:r>
              <a:rPr lang="zh-TW" altLang="en-US" dirty="0">
                <a:latin typeface="Segoe UI Historic" panose="020B0502040204020203" pitchFamily="34" charset="0"/>
              </a:rPr>
              <a:t>，包含</a:t>
            </a:r>
            <a:r>
              <a:rPr lang="en-US" altLang="zh-TW" dirty="0">
                <a:latin typeface="Segoe UI Historic" panose="020B0502040204020203" pitchFamily="34" charset="0"/>
              </a:rPr>
              <a:t>CNN</a:t>
            </a:r>
            <a:r>
              <a:rPr lang="zh-TW" altLang="en-US" dirty="0">
                <a:latin typeface="Segoe UI Historic" panose="020B0502040204020203" pitchFamily="34" charset="0"/>
              </a:rPr>
              <a:t> </a:t>
            </a:r>
            <a:r>
              <a:rPr lang="en-US" altLang="zh-TW" dirty="0">
                <a:latin typeface="Segoe UI Historic" panose="020B0502040204020203" pitchFamily="34" charset="0"/>
              </a:rPr>
              <a:t>DQN</a:t>
            </a:r>
            <a:r>
              <a:rPr lang="zh-TW" altLang="en-US" dirty="0">
                <a:latin typeface="Segoe UI Historic" panose="020B0502040204020203" pitchFamily="34" charset="0"/>
              </a:rPr>
              <a:t>、</a:t>
            </a:r>
            <a:r>
              <a:rPr lang="en-US" altLang="zh-TW" dirty="0">
                <a:latin typeface="Segoe UI Historic" panose="020B0502040204020203" pitchFamily="34" charset="0"/>
              </a:rPr>
              <a:t>Agent(</a:t>
            </a:r>
            <a:r>
              <a:rPr lang="zh-TW" altLang="en-US" dirty="0">
                <a:latin typeface="Segoe UI Historic" panose="020B0502040204020203" pitchFamily="34" charset="0"/>
              </a:rPr>
              <a:t>更新規則</a:t>
            </a:r>
            <a:r>
              <a:rPr lang="en-US" altLang="zh-TW" dirty="0">
                <a:latin typeface="Segoe UI Historic" panose="020B0502040204020203" pitchFamily="34" charset="0"/>
              </a:rPr>
              <a:t>)</a:t>
            </a:r>
            <a:r>
              <a:rPr lang="zh-TW" altLang="en-US" b="0" i="0" dirty="0">
                <a:effectLst/>
                <a:latin typeface="Segoe UI Historic" panose="020B0502040204020203" pitchFamily="34" charset="0"/>
              </a:rPr>
              <a:t> </a:t>
            </a:r>
            <a:endParaRPr lang="en-US" altLang="zh-TW" b="0" i="0" dirty="0">
              <a:effectLst/>
              <a:latin typeface="Segoe UI Historic" panose="020B0502040204020203" pitchFamily="34" charset="0"/>
            </a:endParaRPr>
          </a:p>
          <a:p>
            <a:pPr marL="0" indent="0">
              <a:buNone/>
            </a:pPr>
            <a:endParaRPr lang="en-US" altLang="zh-TW" b="0" i="0" dirty="0">
              <a:effectLst/>
              <a:latin typeface="Segoe UI Historic" panose="020B0502040204020203" pitchFamily="34" charset="0"/>
            </a:endParaRPr>
          </a:p>
          <a:p>
            <a:endParaRPr lang="en-US" altLang="zh-TW" b="0" i="0" dirty="0">
              <a:effectLst/>
              <a:latin typeface="Segoe UI Historic" panose="020B0502040204020203" pitchFamily="34" charset="0"/>
            </a:endParaRPr>
          </a:p>
          <a:p>
            <a:r>
              <a:rPr lang="zh-TW" altLang="en-US" b="0" i="0" dirty="0">
                <a:effectLst/>
                <a:latin typeface="Segoe UI Historic" panose="020B0502040204020203" pitchFamily="34" charset="0"/>
              </a:rPr>
              <a:t>驗收： 在</a:t>
            </a:r>
            <a:r>
              <a:rPr lang="en-US" altLang="zh-TW" b="0" i="0" dirty="0">
                <a:effectLst/>
                <a:latin typeface="Segoe UI Historic" panose="020B0502040204020203" pitchFamily="34" charset="0"/>
              </a:rPr>
              <a:t>3</a:t>
            </a:r>
            <a:r>
              <a:rPr lang="zh-TW" altLang="en-US" b="0" i="0" dirty="0">
                <a:effectLst/>
                <a:latin typeface="Segoe UI Historic" panose="020B0502040204020203" pitchFamily="34" charset="0"/>
              </a:rPr>
              <a:t>分鐘內能躲避鬼並吃完所有的點點</a:t>
            </a:r>
            <a:endParaRPr lang="en-US" altLang="zh-TW" b="0" i="0" dirty="0">
              <a:effectLst/>
              <a:latin typeface="Segoe UI Historic" panose="020B0502040204020203" pitchFamily="34" charset="0"/>
            </a:endParaRPr>
          </a:p>
          <a:p>
            <a:pPr marL="457200" lvl="1" indent="0">
              <a:buNone/>
            </a:pPr>
            <a:r>
              <a:rPr lang="zh-TW" altLang="en-US" b="0" i="0" dirty="0">
                <a:effectLst/>
                <a:latin typeface="Segoe UI Historic" panose="020B0502040204020203" pitchFamily="34" charset="0"/>
              </a:rPr>
              <a:t>       在</a:t>
            </a:r>
            <a:r>
              <a:rPr lang="en-US" altLang="zh-TW" b="0" i="0" dirty="0">
                <a:effectLst/>
                <a:latin typeface="Segoe UI Historic" panose="020B0502040204020203" pitchFamily="34" charset="0"/>
              </a:rPr>
              <a:t>3</a:t>
            </a:r>
            <a:r>
              <a:rPr lang="zh-TW" altLang="en-US" b="0" i="0" dirty="0">
                <a:effectLst/>
                <a:latin typeface="Segoe UI Historic" panose="020B0502040204020203" pitchFamily="34" charset="0"/>
              </a:rPr>
              <a:t>分鐘內取得最的分數</a:t>
            </a:r>
            <a:r>
              <a:rPr lang="en-US" altLang="zh-TW" b="0" i="0" dirty="0">
                <a:effectLst/>
                <a:latin typeface="Segoe UI Historic" panose="020B0502040204020203" pitchFamily="34" charset="0"/>
              </a:rPr>
              <a:t>(</a:t>
            </a:r>
            <a:r>
              <a:rPr lang="zh-TW" altLang="en-US" b="0" i="0" dirty="0">
                <a:effectLst/>
                <a:latin typeface="Segoe UI Historic" panose="020B0502040204020203" pitchFamily="34" charset="0"/>
              </a:rPr>
              <a:t>吃鬼會加分</a:t>
            </a:r>
            <a:r>
              <a:rPr lang="en-US" altLang="zh-TW" b="0" i="0" dirty="0">
                <a:effectLst/>
                <a:latin typeface="Segoe UI Historic" panose="020B0502040204020203" pitchFamily="34" charset="0"/>
              </a:rPr>
              <a:t>)</a:t>
            </a:r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4" name="標題 3">
            <a:extLst>
              <a:ext uri="{FF2B5EF4-FFF2-40B4-BE49-F238E27FC236}">
                <a16:creationId xmlns:a16="http://schemas.microsoft.com/office/drawing/2014/main" id="{B041A32C-A22D-4451-CDC3-F7B5805A6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專案管理</a:t>
            </a:r>
          </a:p>
        </p:txBody>
      </p:sp>
    </p:spTree>
    <p:extLst>
      <p:ext uri="{BB962C8B-B14F-4D97-AF65-F5344CB8AC3E}">
        <p14:creationId xmlns:p14="http://schemas.microsoft.com/office/powerpoint/2010/main" val="3565334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D70BA-22B2-EB74-81E1-B327C0FB6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2">
            <a:extLst>
              <a:ext uri="{FF2B5EF4-FFF2-40B4-BE49-F238E27FC236}">
                <a16:creationId xmlns:a16="http://schemas.microsoft.com/office/drawing/2014/main" id="{C8CF2EF3-1963-8DF1-38AC-A6FC9F8C563F}"/>
              </a:ext>
            </a:extLst>
          </p:cNvPr>
          <p:cNvSpPr txBox="1">
            <a:spLocks/>
          </p:cNvSpPr>
          <p:nvPr/>
        </p:nvSpPr>
        <p:spPr>
          <a:xfrm>
            <a:off x="838200" y="1389529"/>
            <a:ext cx="10515600" cy="35211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j-cs"/>
              </a:defRPr>
            </a:lvl1pPr>
          </a:lstStyle>
          <a:p>
            <a:pPr>
              <a:lnSpc>
                <a:spcPct val="125000"/>
              </a:lnSpc>
            </a:pPr>
            <a:endParaRPr lang="zh-TW" altLang="en-US" sz="5000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EF1DC99-760D-9445-9A7C-CDF5FAC58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系統分析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2183E79-2E74-56A1-16A4-A314491BACA6}"/>
              </a:ext>
            </a:extLst>
          </p:cNvPr>
          <p:cNvSpPr txBox="1"/>
          <p:nvPr/>
        </p:nvSpPr>
        <p:spPr>
          <a:xfrm>
            <a:off x="838200" y="1389529"/>
            <a:ext cx="105156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系統拆解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1.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遊戲環境模組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pacman_core.py)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	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    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   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功能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	(1)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地圖解析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載入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pacman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地圖、牆、點、能量球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	(2)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pacman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控制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更新位置、碰撞、吃豆子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	(3)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鬼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(ghost)AI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FSM: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chase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/scatter/frightened/eaten/respawn</a:t>
            </a:r>
          </a:p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	(4)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事件判定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被鬼吃、吃鬼、吃能量球、得分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	(5)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遊戲重置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關卡清零、重新初始化角色位置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	(6)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reward</a:t>
            </a:r>
            <a:r>
              <a:rPr lang="en-US" altLang="zh-TW" dirty="0"/>
              <a:t>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設計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用於強化學習訓練的回報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輸出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遊戲畫面、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reword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、結束、附加資訊</a:t>
            </a:r>
          </a:p>
        </p:txBody>
      </p:sp>
    </p:spTree>
    <p:extLst>
      <p:ext uri="{BB962C8B-B14F-4D97-AF65-F5344CB8AC3E}">
        <p14:creationId xmlns:p14="http://schemas.microsoft.com/office/powerpoint/2010/main" val="1399015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D70BA-22B2-EB74-81E1-B327C0FB6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2">
            <a:extLst>
              <a:ext uri="{FF2B5EF4-FFF2-40B4-BE49-F238E27FC236}">
                <a16:creationId xmlns:a16="http://schemas.microsoft.com/office/drawing/2014/main" id="{C8CF2EF3-1963-8DF1-38AC-A6FC9F8C563F}"/>
              </a:ext>
            </a:extLst>
          </p:cNvPr>
          <p:cNvSpPr txBox="1">
            <a:spLocks/>
          </p:cNvSpPr>
          <p:nvPr/>
        </p:nvSpPr>
        <p:spPr>
          <a:xfrm>
            <a:off x="838200" y="1389529"/>
            <a:ext cx="10515600" cy="35211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j-cs"/>
              </a:defRPr>
            </a:lvl1pPr>
          </a:lstStyle>
          <a:p>
            <a:pPr>
              <a:lnSpc>
                <a:spcPct val="125000"/>
              </a:lnSpc>
            </a:pPr>
            <a:endParaRPr lang="zh-TW" altLang="en-US" sz="5000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EF1DC99-760D-9445-9A7C-CDF5FAC58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系統分析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2183E79-2E74-56A1-16A4-A314491BACA6}"/>
              </a:ext>
            </a:extLst>
          </p:cNvPr>
          <p:cNvSpPr txBox="1"/>
          <p:nvPr/>
        </p:nvSpPr>
        <p:spPr>
          <a:xfrm>
            <a:off x="838200" y="1389529"/>
            <a:ext cx="10515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系統拆解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強化學習包裝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pacman_env_from_core.py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    功能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	(1)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將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pacman_core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包裝成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RL: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像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gym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的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rest()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、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step()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	(2)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CNN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輸入前處理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:resize, grayscale, normalization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	(3)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鬼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(ghost)AI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FSM:chase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/scatter/frightened/eaten/respawn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	(4)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狀態堆疊（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optional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）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多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frame state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	(5)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遊戲重置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關卡清零、重新初始化角色位置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	(6)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介面統一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讓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Agent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可以直接讀取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state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80532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D70BA-22B2-EB74-81E1-B327C0FB6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2">
            <a:extLst>
              <a:ext uri="{FF2B5EF4-FFF2-40B4-BE49-F238E27FC236}">
                <a16:creationId xmlns:a16="http://schemas.microsoft.com/office/drawing/2014/main" id="{C8CF2EF3-1963-8DF1-38AC-A6FC9F8C563F}"/>
              </a:ext>
            </a:extLst>
          </p:cNvPr>
          <p:cNvSpPr txBox="1">
            <a:spLocks/>
          </p:cNvSpPr>
          <p:nvPr/>
        </p:nvSpPr>
        <p:spPr>
          <a:xfrm>
            <a:off x="838200" y="1389529"/>
            <a:ext cx="10515600" cy="35211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j-cs"/>
              </a:defRPr>
            </a:lvl1pPr>
          </a:lstStyle>
          <a:p>
            <a:pPr>
              <a:lnSpc>
                <a:spcPct val="125000"/>
              </a:lnSpc>
            </a:pPr>
            <a:endParaRPr lang="zh-TW" altLang="en-US" sz="5000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EF1DC99-760D-9445-9A7C-CDF5FAC58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系統分析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2183E79-2E74-56A1-16A4-A314491BACA6}"/>
              </a:ext>
            </a:extLst>
          </p:cNvPr>
          <p:cNvSpPr txBox="1"/>
          <p:nvPr/>
        </p:nvSpPr>
        <p:spPr>
          <a:xfrm>
            <a:off x="838200" y="1389529"/>
            <a:ext cx="10515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系統拆解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3.CNN O-Network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模型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    功能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	1.cnn_dqn.py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Q-Network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		(1)</a:t>
            </a:r>
            <a:r>
              <a:rPr lang="zh-TW" altLang="en-US" dirty="0"/>
              <a:t>使用 </a:t>
            </a:r>
            <a:r>
              <a:rPr lang="en-US" altLang="zh-TW" dirty="0"/>
              <a:t>CNN </a:t>
            </a:r>
            <a:r>
              <a:rPr lang="zh-TW" altLang="en-US" dirty="0"/>
              <a:t>萃取遊戲畫面特徵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		(2)FC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層輸出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4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個動作的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Q-values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		(3)forward()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用於推論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1286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D70BA-22B2-EB74-81E1-B327C0FB6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2">
            <a:extLst>
              <a:ext uri="{FF2B5EF4-FFF2-40B4-BE49-F238E27FC236}">
                <a16:creationId xmlns:a16="http://schemas.microsoft.com/office/drawing/2014/main" id="{C8CF2EF3-1963-8DF1-38AC-A6FC9F8C563F}"/>
              </a:ext>
            </a:extLst>
          </p:cNvPr>
          <p:cNvSpPr txBox="1">
            <a:spLocks/>
          </p:cNvSpPr>
          <p:nvPr/>
        </p:nvSpPr>
        <p:spPr>
          <a:xfrm>
            <a:off x="838200" y="1389529"/>
            <a:ext cx="10515600" cy="35211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j-cs"/>
              </a:defRPr>
            </a:lvl1pPr>
          </a:lstStyle>
          <a:p>
            <a:pPr>
              <a:lnSpc>
                <a:spcPct val="125000"/>
              </a:lnSpc>
            </a:pPr>
            <a:endParaRPr lang="zh-TW" altLang="en-US" sz="5000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EF1DC99-760D-9445-9A7C-CDF5FAC58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系統分析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2183E79-2E74-56A1-16A4-A314491BACA6}"/>
              </a:ext>
            </a:extLst>
          </p:cNvPr>
          <p:cNvSpPr txBox="1"/>
          <p:nvPr/>
        </p:nvSpPr>
        <p:spPr>
          <a:xfrm>
            <a:off x="838200" y="1389529"/>
            <a:ext cx="105156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系統拆解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4.DQN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 訓練模型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(</a:t>
            </a:r>
            <a:r>
              <a:rPr lang="en-US" altLang="zh-TW" dirty="0"/>
              <a:t>train_full_dqn.py)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    功能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	1.(DQN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邏輯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)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		(1)</a:t>
            </a:r>
            <a:r>
              <a:rPr lang="el-GR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ε-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greedy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探索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隨訓練逐漸降低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ε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		(2)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記憶回放（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Replay Buffer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）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儲存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state transition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		(3)loss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計算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: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MSELoss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		(4)optimize: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更新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Q-network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		(5)target network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同步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:fixed Q-target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	2.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模型儲存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:bast model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、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last model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	3.tensorBoard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紀錄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:loss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、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reword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、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epsilon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	4.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儲存至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Replay Buffer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54549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D70BA-22B2-EB74-81E1-B327C0FB6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2">
            <a:extLst>
              <a:ext uri="{FF2B5EF4-FFF2-40B4-BE49-F238E27FC236}">
                <a16:creationId xmlns:a16="http://schemas.microsoft.com/office/drawing/2014/main" id="{C8CF2EF3-1963-8DF1-38AC-A6FC9F8C563F}"/>
              </a:ext>
            </a:extLst>
          </p:cNvPr>
          <p:cNvSpPr txBox="1">
            <a:spLocks/>
          </p:cNvSpPr>
          <p:nvPr/>
        </p:nvSpPr>
        <p:spPr>
          <a:xfrm>
            <a:off x="838200" y="1389529"/>
            <a:ext cx="10515600" cy="35211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j-cs"/>
              </a:defRPr>
            </a:lvl1pPr>
          </a:lstStyle>
          <a:p>
            <a:pPr>
              <a:lnSpc>
                <a:spcPct val="125000"/>
              </a:lnSpc>
            </a:pPr>
            <a:endParaRPr lang="zh-TW" altLang="en-US" sz="5000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EF1DC99-760D-9445-9A7C-CDF5FAC58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系統分析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2183E79-2E74-56A1-16A4-A314491BACA6}"/>
              </a:ext>
            </a:extLst>
          </p:cNvPr>
          <p:cNvSpPr txBox="1"/>
          <p:nvPr/>
        </p:nvSpPr>
        <p:spPr>
          <a:xfrm>
            <a:off x="838200" y="1389529"/>
            <a:ext cx="10515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系統拆解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5.Replay Buffer</a:t>
            </a:r>
          </a:p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    功能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	1.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儲存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transition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	2.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控制最大容量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	3.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隨機抽樣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batch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	4.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協助訓練穩定收斂</a:t>
            </a:r>
          </a:p>
        </p:txBody>
      </p:sp>
    </p:spTree>
    <p:extLst>
      <p:ext uri="{BB962C8B-B14F-4D97-AF65-F5344CB8AC3E}">
        <p14:creationId xmlns:p14="http://schemas.microsoft.com/office/powerpoint/2010/main" val="3206035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EBC42-F441-AC6A-2793-A58BD362C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2">
            <a:extLst>
              <a:ext uri="{FF2B5EF4-FFF2-40B4-BE49-F238E27FC236}">
                <a16:creationId xmlns:a16="http://schemas.microsoft.com/office/drawing/2014/main" id="{0DBF4A77-BC42-5158-8770-7EB98807FC67}"/>
              </a:ext>
            </a:extLst>
          </p:cNvPr>
          <p:cNvSpPr txBox="1">
            <a:spLocks/>
          </p:cNvSpPr>
          <p:nvPr/>
        </p:nvSpPr>
        <p:spPr>
          <a:xfrm>
            <a:off x="838200" y="1389529"/>
            <a:ext cx="10515600" cy="35211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j-cs"/>
              </a:defRPr>
            </a:lvl1pPr>
          </a:lstStyle>
          <a:p>
            <a:pPr>
              <a:lnSpc>
                <a:spcPct val="125000"/>
              </a:lnSpc>
            </a:pPr>
            <a:endParaRPr lang="zh-TW" altLang="en-US" sz="5000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0ABDC90E-7D3D-5350-0B7B-E05B710A6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zh-TW" altLang="en-US" dirty="0">
                <a:cs typeface="Times New Roman" panose="02020603050405020304" pitchFamily="18" charset="0"/>
              </a:rPr>
              <a:t>環境及設定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31344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4AFB1-10BF-5364-677F-1C1C3C6E9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2">
            <a:extLst>
              <a:ext uri="{FF2B5EF4-FFF2-40B4-BE49-F238E27FC236}">
                <a16:creationId xmlns:a16="http://schemas.microsoft.com/office/drawing/2014/main" id="{62A8A587-34EC-9AC6-10A6-0916F201544B}"/>
              </a:ext>
            </a:extLst>
          </p:cNvPr>
          <p:cNvSpPr txBox="1">
            <a:spLocks/>
          </p:cNvSpPr>
          <p:nvPr/>
        </p:nvSpPr>
        <p:spPr>
          <a:xfrm>
            <a:off x="838200" y="1389529"/>
            <a:ext cx="10515600" cy="35211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j-cs"/>
              </a:defRPr>
            </a:lvl1pPr>
          </a:lstStyle>
          <a:p>
            <a:pPr>
              <a:lnSpc>
                <a:spcPct val="125000"/>
              </a:lnSpc>
            </a:pPr>
            <a:endParaRPr lang="zh-TW" altLang="en-US" sz="5000" dirty="0"/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F3AD1D26-1ECA-ACBC-8A4F-49C3E5070C92}"/>
              </a:ext>
            </a:extLst>
          </p:cNvPr>
          <p:cNvSpPr txBox="1">
            <a:spLocks/>
          </p:cNvSpPr>
          <p:nvPr/>
        </p:nvSpPr>
        <p:spPr>
          <a:xfrm>
            <a:off x="83820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j-cs"/>
              </a:defRPr>
            </a:lvl1pPr>
          </a:lstStyle>
          <a:p>
            <a:r>
              <a:rPr lang="zh-TW" altLang="en-US" dirty="0">
                <a:cs typeface="Times New Roman" panose="02020603050405020304" pitchFamily="18" charset="0"/>
              </a:rPr>
              <a:t>成果展示</a:t>
            </a:r>
            <a:endParaRPr lang="zh-TW" altLang="en-US" dirty="0">
              <a:latin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85429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2DC49-1F4D-1122-365C-B1ACB21AA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2">
            <a:extLst>
              <a:ext uri="{FF2B5EF4-FFF2-40B4-BE49-F238E27FC236}">
                <a16:creationId xmlns:a16="http://schemas.microsoft.com/office/drawing/2014/main" id="{018677F2-8341-B243-B3F5-54F1466A60F3}"/>
              </a:ext>
            </a:extLst>
          </p:cNvPr>
          <p:cNvSpPr txBox="1">
            <a:spLocks/>
          </p:cNvSpPr>
          <p:nvPr/>
        </p:nvSpPr>
        <p:spPr>
          <a:xfrm>
            <a:off x="838200" y="1389529"/>
            <a:ext cx="10515600" cy="35211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+mj-cs"/>
              </a:defRPr>
            </a:lvl1pPr>
          </a:lstStyle>
          <a:p>
            <a:pPr>
              <a:lnSpc>
                <a:spcPct val="125000"/>
              </a:lnSpc>
            </a:pPr>
            <a:endParaRPr lang="zh-TW" altLang="en-US" sz="5000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F60FBF62-E5F4-D143-E2CB-5786C410A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zh-TW" altLang="en-US" dirty="0">
                <a:cs typeface="Times New Roman" panose="02020603050405020304" pitchFamily="18" charset="0"/>
              </a:rPr>
              <a:t>問題紀錄</a:t>
            </a:r>
            <a:r>
              <a:rPr lang="en-US" altLang="zh-TW" dirty="0">
                <a:cs typeface="Times New Roman" panose="02020603050405020304" pitchFamily="18" charset="0"/>
              </a:rPr>
              <a:t>()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2359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68632</TotalTime>
  <Words>650</Words>
  <Application>Microsoft Office PowerPoint</Application>
  <PresentationFormat>寬螢幕</PresentationFormat>
  <Paragraphs>80</Paragraphs>
  <Slides>10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6" baseType="lpstr">
      <vt:lpstr>標楷體</vt:lpstr>
      <vt:lpstr>Arial</vt:lpstr>
      <vt:lpstr>Calibri</vt:lpstr>
      <vt:lpstr>Segoe UI Historic</vt:lpstr>
      <vt:lpstr>Times New Roman</vt:lpstr>
      <vt:lpstr>Office 佈景主題</vt:lpstr>
      <vt:lpstr>基於DQN訓練遊玩Pac-man之模型說明</vt:lpstr>
      <vt:lpstr>專案管理</vt:lpstr>
      <vt:lpstr>系統分析</vt:lpstr>
      <vt:lpstr>系統分析</vt:lpstr>
      <vt:lpstr>系統分析</vt:lpstr>
      <vt:lpstr>系統分析</vt:lpstr>
      <vt:lpstr>系統分析</vt:lpstr>
      <vt:lpstr>環境及設定</vt:lpstr>
      <vt:lpstr>PowerPoint 簡報</vt:lpstr>
      <vt:lpstr>問題紀錄()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專案進度報告 專案名稱</dc:title>
  <dc:creator>user</dc:creator>
  <cp:lastModifiedBy>user</cp:lastModifiedBy>
  <cp:revision>456</cp:revision>
  <dcterms:created xsi:type="dcterms:W3CDTF">2019-03-11T13:47:46Z</dcterms:created>
  <dcterms:modified xsi:type="dcterms:W3CDTF">2025-11-26T07:39:23Z</dcterms:modified>
</cp:coreProperties>
</file>